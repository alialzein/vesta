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E5C6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3657600" cy="3657600"/>
          </a:xfrm>
          <a:prstGeom prst="ellipse">
            <a:avLst/>
          </a:prstGeom>
          <a:solidFill>
            <a:srgbClr val="3FBFA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6184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514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3FB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work, in order.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chief of staff that keeps you on top of follow-ups,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replies, and decisions — even on your busiest days.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Ali Sabbagh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you're living with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meetings leave no room to track who's waiting on you — so things slip.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3172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69748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24" y="2932024"/>
            <a:ext cx="399593" cy="3995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time to follow up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full of meetings mean replies and approvals pile up unseen.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480560" y="233172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269748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864" y="2932024"/>
            <a:ext cx="399593" cy="3995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chase you twice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84632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get repeated because the first one was buried.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458200" y="233172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823960" y="269748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504" y="2932024"/>
            <a:ext cx="399593" cy="3995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396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items get lost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82396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 is a flat list — urgent and trivial look the same.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 </a:t>
            </a:r>
            <a:pPr indent="0" marL="0">
              <a:buNone/>
            </a:pPr>
            <a:r>
              <a:rPr lang="en-US" sz="1450" i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follow-ups quietly become missed opportunities and frustrated clients.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029200" cy="5029200"/>
          </a:xfrm>
          <a:prstGeom prst="ellipse">
            <a:avLst/>
          </a:prstGeom>
          <a:solidFill>
            <a:srgbClr val="0E5C63">
              <a:alpha val="4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Vesta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that tells you what genuinely needs you today — and acts on it with you.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542032"/>
            <a:ext cx="822960" cy="822960"/>
          </a:xfrm>
          <a:prstGeom prst="ellipse">
            <a:avLst/>
          </a:prstGeom>
          <a:solidFill>
            <a:srgbClr val="1C8A8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" y="2764231"/>
            <a:ext cx="378562" cy="3785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520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everything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425196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your email, messages and calendar automatically.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83280" y="219456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03320" y="2542032"/>
            <a:ext cx="822960" cy="822960"/>
          </a:xfrm>
          <a:prstGeom prst="ellipse">
            <a:avLst/>
          </a:prstGeom>
          <a:solidFill>
            <a:srgbClr val="1C8A8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19" y="2764231"/>
            <a:ext cx="378562" cy="3785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3520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Ranks what matters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657600" y="425196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item 0–100 by real urgency, with the reason.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17920" y="219456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37960" y="2542032"/>
            <a:ext cx="822960" cy="822960"/>
          </a:xfrm>
          <a:prstGeom prst="ellipse">
            <a:avLst/>
          </a:prstGeom>
          <a:solidFill>
            <a:srgbClr val="F2994A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159" y="2764231"/>
            <a:ext cx="378562" cy="3785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92240" y="3520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Drafts your replies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492240" y="425196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responses in your tone — you approve in seconds.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052560" y="219456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72600" y="2542032"/>
            <a:ext cx="822960" cy="822960"/>
          </a:xfrm>
          <a:prstGeom prst="ellipse">
            <a:avLst/>
          </a:prstGeom>
          <a:solidFill>
            <a:srgbClr val="1C8A8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799" y="2764231"/>
            <a:ext cx="378562" cy="3785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26880" y="3520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stay in control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326880" y="425196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sent without your explicit sign-off.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a fully booked day, you open one screen and nothing important falls through the cracks.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see each morning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658368" cy="65836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9" y="2006559"/>
            <a:ext cx="302849" cy="302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792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morning brief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371600" y="215798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summary: how many urgent items, who's waiting, what's at risk.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907792"/>
            <a:ext cx="658368" cy="65836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3085551"/>
            <a:ext cx="302849" cy="3028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8712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ranked radar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371600" y="323697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sorted by genuine urgency — each item with a one-line reason.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986784"/>
            <a:ext cx="658368" cy="65836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99" y="4164543"/>
            <a:ext cx="302849" cy="3028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950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waiting on you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371600" y="43159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nobody is quietly stuck waiting for your reply or approval.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5065776"/>
            <a:ext cx="658368" cy="65836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99" y="5243535"/>
            <a:ext cx="302849" cy="302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Ready-to-send drafts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371600" y="5394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pre-written in your tone — review, tweak, approve.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315200" y="1828800"/>
            <a:ext cx="4343400" cy="4114800"/>
          </a:xfrm>
          <a:prstGeom prst="roundRect">
            <a:avLst>
              <a:gd name="adj" fmla="val 3111"/>
            </a:avLst>
          </a:prstGeom>
          <a:solidFill>
            <a:srgbClr val="0A2A2E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6352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TODAY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589520" y="2468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8800" dirty="0"/>
          </a:p>
        </p:txBody>
      </p:sp>
      <p:sp>
        <p:nvSpPr>
          <p:cNvPr id="24" name="Text 17"/>
          <p:cNvSpPr/>
          <p:nvPr/>
        </p:nvSpPr>
        <p:spPr>
          <a:xfrm>
            <a:off x="7635240" y="3886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Cedars Group contract approval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635240" y="42976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Chased twice · due 4 PM · client relationship at risk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366760" y="502920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27" name="Text 20"/>
          <p:cNvSpPr/>
          <p:nvPr/>
        </p:nvSpPr>
        <p:spPr>
          <a:xfrm>
            <a:off x="8366760" y="5029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draft reply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learns how you work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teach Vesta once — it applies your rules every time it prioritises and drafts.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2715768" cy="27432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2578608"/>
            <a:ext cx="749808" cy="74980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76" y="2781056"/>
            <a:ext cx="344912" cy="344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345643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VIPs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95528" y="384048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clients, the board — their requests always rise to the top.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83280" y="2286000"/>
            <a:ext cx="2715768" cy="27432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75888" y="2578608"/>
            <a:ext cx="749808" cy="74980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336" y="2781056"/>
            <a:ext cx="344912" cy="344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75888" y="345643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tone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75888" y="384048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direct, warm and formal — however you write.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2286000"/>
            <a:ext cx="2715768" cy="27432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56248" y="2578608"/>
            <a:ext cx="749808" cy="74980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696" y="2781056"/>
            <a:ext cx="344912" cy="344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56248" y="345643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Delegation rules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556248" y="384048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“Finance approvals can go to Rania first.”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144000" y="2286000"/>
            <a:ext cx="2715768" cy="27432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436608" y="2578608"/>
            <a:ext cx="749808" cy="749808"/>
          </a:xfrm>
          <a:prstGeom prst="ellipse">
            <a:avLst/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056" y="2781056"/>
            <a:ext cx="344912" cy="344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36608" y="345643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boundaries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436608" y="384048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send anything without my approval.”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292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you use it, the more it sounds and decides like </a:t>
            </a:r>
            <a:pPr indent="0" marL="0">
              <a:buNone/>
            </a:pPr>
            <a:r>
              <a:rPr lang="en-US" sz="1450" b="1" i="1" dirty="0">
                <a:solidFill>
                  <a:srgbClr val="0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14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minutes, and the day is handled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0E5C63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8:30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97280" y="2880360"/>
            <a:ext cx="0" cy="201168"/>
          </a:xfrm>
          <a:prstGeom prst="line">
            <a:avLst/>
          </a:prstGeom>
          <a:noFill/>
          <a:ln w="25400">
            <a:solidFill>
              <a:srgbClr val="1C8A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20025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open Vesta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3865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brief: 5 critical items, 3 follow-ups, 1 approval blocking finance.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081528"/>
            <a:ext cx="914400" cy="914400"/>
          </a:xfrm>
          <a:prstGeom prst="ellipse">
            <a:avLst/>
          </a:prstGeom>
          <a:solidFill>
            <a:srgbClr val="0E5C63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0815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8:32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97280" y="3995928"/>
            <a:ext cx="0" cy="201168"/>
          </a:xfrm>
          <a:prstGeom prst="line">
            <a:avLst/>
          </a:prstGeom>
          <a:noFill/>
          <a:ln w="25400">
            <a:solidFill>
              <a:srgbClr val="1C8A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0" y="31181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clear the top risk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828800" y="35021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at the drafted reply for the chased client, edit a word, approve.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197096"/>
            <a:ext cx="914400" cy="914400"/>
          </a:xfrm>
          <a:prstGeom prst="ellipse">
            <a:avLst/>
          </a:prstGeom>
          <a:solidFill>
            <a:srgbClr val="0E5C63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41970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8:35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97280" y="5111496"/>
            <a:ext cx="0" cy="201168"/>
          </a:xfrm>
          <a:prstGeom prst="line">
            <a:avLst/>
          </a:prstGeom>
          <a:noFill/>
          <a:ln w="25400">
            <a:solidFill>
              <a:srgbClr val="1C8A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28800" y="4233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unblock your team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28800" y="4617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the finance budget check with a hand-off Vesta drafted.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312664"/>
            <a:ext cx="914400" cy="914400"/>
          </a:xfrm>
          <a:prstGeom prst="ellipse">
            <a:avLst/>
          </a:prstGeom>
          <a:solidFill>
            <a:srgbClr val="3FBFA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53126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8:40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828800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828800" y="57332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that needed you is handled — you never opened a cluttered inbox.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grow it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lean and useful. Expand into a full chief of staff over time.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670048" cy="4023360"/>
          </a:xfrm>
          <a:prstGeom prst="roundRect">
            <a:avLst>
              <a:gd name="adj" fmla="val 4110"/>
            </a:avLst>
          </a:prstGeom>
          <a:solidFill>
            <a:srgbClr val="0E5C63"/>
          </a:solidFill>
          <a:ln w="19050">
            <a:solidFill>
              <a:srgbClr val="3FBFA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2286000"/>
            <a:ext cx="713232" cy="713232"/>
          </a:xfrm>
          <a:prstGeom prst="ellipse">
            <a:avLst/>
          </a:prstGeom>
          <a:solidFill>
            <a:srgbClr val="F2994A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21" y="2478573"/>
            <a:ext cx="328087" cy="3280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1089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33832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41248" y="4114800"/>
            <a:ext cx="2167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priorities &amp; follow-ups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replies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memory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83280" y="2011680"/>
            <a:ext cx="2670048" cy="402336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75888" y="2286000"/>
            <a:ext cx="713232" cy="713232"/>
          </a:xfrm>
          <a:prstGeom prst="ellipse">
            <a:avLst/>
          </a:prstGeom>
          <a:solidFill>
            <a:srgbClr val="1C8A8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461" y="2478573"/>
            <a:ext cx="328087" cy="3280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31089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33832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awareness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3675888" y="4114800"/>
            <a:ext cx="2167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messages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 packs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tracking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17920" y="2011680"/>
            <a:ext cx="2670048" cy="402336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10528" y="2286000"/>
            <a:ext cx="713232" cy="713232"/>
          </a:xfrm>
          <a:prstGeom prst="ellipse">
            <a:avLst/>
          </a:prstGeom>
          <a:solidFill>
            <a:srgbClr val="1C8A8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101" y="2478573"/>
            <a:ext cx="328087" cy="3280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2240" y="31089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92240" y="33832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support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510528" y="4114800"/>
            <a:ext cx="2167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heatmap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executive review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 cleanup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52560" y="2011680"/>
            <a:ext cx="2670048" cy="4023360"/>
          </a:xfrm>
          <a:prstGeom prst="roundRect">
            <a:avLst>
              <a:gd name="adj" fmla="val 411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345168" y="2286000"/>
            <a:ext cx="713232" cy="713232"/>
          </a:xfrm>
          <a:prstGeom prst="ellipse">
            <a:avLst/>
          </a:prstGeom>
          <a:solidFill>
            <a:srgbClr val="1C8A88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741" y="2478573"/>
            <a:ext cx="328087" cy="3280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26880" y="31089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9326880" y="33832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9345168" y="4114800"/>
            <a:ext cx="2167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other managers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memory per user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approvals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02920" y="182880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scanning the inbox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slip; people chase you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items look like trivial ones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runs you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0A2A2E"/>
          </a:solidFill>
          <a:ln/>
          <a:effectLst>
            <a:outerShdw sx="100000" sy="100000" kx="0" ky="0" algn="bl" rotWithShape="0" blurRad="114300" dist="38100" dir="8100000">
              <a:srgbClr val="0A2A2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214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VESTA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75120" y="26060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shows what matters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ready to approve in seconds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important slips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day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give you back the first hour of every day — and the confidence nothing is slipping.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E5C63">
              <a:alpha val="4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94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you'd like to move forward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is ready to demo today. The full build takes roughly 8–12 weeks — and I can deliver this first version myself.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get started, I'd need set up on your side: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9260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account (your email) — free tier is enough to begin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account (your email) — free to start; $20/mo Pro later if needed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API key with ~$20 balance for testing — top up later as needed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Max subscription to build the product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0F3A3F"/>
          </a:solidFill>
          <a:ln w="12700">
            <a:solidFill>
              <a:srgbClr val="1C8A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07492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15-minute walkthrough of the live prototype, whenever suits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Vesta — AI Chief of Staff</dc:title>
  <dc:subject>PptxGenJS Presentation</dc:subject>
  <dc:creator>Vesta</dc:creator>
  <cp:lastModifiedBy>Vesta</cp:lastModifiedBy>
  <cp:revision>1</cp:revision>
  <dcterms:created xsi:type="dcterms:W3CDTF">2026-06-04T12:40:47Z</dcterms:created>
  <dcterms:modified xsi:type="dcterms:W3CDTF">2026-06-04T12:40:47Z</dcterms:modified>
</cp:coreProperties>
</file>